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7" r:id="rId2"/>
    <p:sldId id="263" r:id="rId3"/>
    <p:sldId id="271" r:id="rId4"/>
    <p:sldId id="264" r:id="rId5"/>
    <p:sldId id="261" r:id="rId6"/>
    <p:sldId id="262" r:id="rId7"/>
    <p:sldId id="260" r:id="rId8"/>
    <p:sldId id="265" r:id="rId9"/>
    <p:sldId id="269" r:id="rId10"/>
    <p:sldId id="278" r:id="rId11"/>
    <p:sldId id="275" r:id="rId12"/>
    <p:sldId id="276" r:id="rId13"/>
  </p:sldIdLst>
  <p:sldSz cx="9144000" cy="5143500" type="screen16x9"/>
  <p:notesSz cx="6858000" cy="9144000"/>
  <p:embeddedFontLst>
    <p:embeddedFont>
      <p:font typeface="Open Sans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084" userDrawn="1">
          <p15:clr>
            <a:srgbClr val="A4A3A4"/>
          </p15:clr>
        </p15:guide>
        <p15:guide id="2" pos="363" userDrawn="1">
          <p15:clr>
            <a:srgbClr val="9AA0A6"/>
          </p15:clr>
        </p15:guide>
        <p15:guide id="4" orient="horz" pos="2845" userDrawn="1">
          <p15:clr>
            <a:srgbClr val="9AA0A6"/>
          </p15:clr>
        </p15:guide>
        <p15:guide id="5" orient="horz" pos="1121" userDrawn="1">
          <p15:clr>
            <a:srgbClr val="9AA0A6"/>
          </p15:clr>
        </p15:guide>
        <p15:guide id="6" orient="horz" pos="826" userDrawn="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FFA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17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230" y="120"/>
      </p:cViewPr>
      <p:guideLst>
        <p:guide pos="3084"/>
        <p:guide pos="363"/>
        <p:guide orient="horz" pos="2845"/>
        <p:guide orient="horz" pos="1121"/>
        <p:guide orient="horz" pos="8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80384366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803843663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8516cc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8516cc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6803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8516cc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8516cc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1089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8516cc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8516cc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4966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8516cc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8516cc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5659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8516cc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8516cc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0078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8516cc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8516cc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0794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8516cc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8516cc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6697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8516cc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8516cc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2371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8516cc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8516cc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77523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8516cc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8516cc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64408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8516cc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8516cc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0008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1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1408124" y="278386"/>
            <a:ext cx="651098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SzPts val="1100"/>
            </a:pPr>
            <a:r>
              <a:rPr lang="en-US" sz="18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Open Data Science</a:t>
            </a:r>
          </a:p>
          <a:p>
            <a:pPr algn="ctr">
              <a:buSzPts val="1100"/>
            </a:pPr>
            <a:r>
              <a:rPr lang="ru-RU" sz="18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Курс «LLM: От понимания к продукту»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AB7629E-32CE-4524-9D35-4833A1C2A461}"/>
              </a:ext>
            </a:extLst>
          </p:cNvPr>
          <p:cNvSpPr/>
          <p:nvPr/>
        </p:nvSpPr>
        <p:spPr>
          <a:xfrm>
            <a:off x="1864802" y="3077995"/>
            <a:ext cx="6019130" cy="1811073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b="1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Команда: 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b="1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Название команды: 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ОЭКИИ 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b="1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Состав команды: 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○ Кантемиров Роман (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Product manage, AI Engineer, </a:t>
            </a:r>
            <a:r>
              <a:rPr lang="en-US" dirty="0" err="1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MLOps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) </a:t>
            </a:r>
            <a:endParaRPr lang="ru-RU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○ +79088002878, </a:t>
            </a:r>
            <a:r>
              <a:rPr lang="en-US" dirty="0">
                <a:solidFill>
                  <a:schemeClr val="lt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r</a:t>
            </a:r>
            <a:r>
              <a:rPr lang="ru-RU" dirty="0">
                <a:solidFill>
                  <a:schemeClr val="lt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_</a:t>
            </a:r>
            <a:r>
              <a:rPr lang="en-US" dirty="0">
                <a:solidFill>
                  <a:schemeClr val="lt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kantemirov@mail.ru 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○</a:t>
            </a:r>
            <a:endParaRPr lang="ru-RU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b="1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Ссылка на репозиторий/артефакты проекта: 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https://github.com/kantemirovrs/ai-agent-vndo.git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	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81B2B0A-78D0-4956-B5A4-4DD036E3CDF6}"/>
              </a:ext>
            </a:extLst>
          </p:cNvPr>
          <p:cNvSpPr/>
          <p:nvPr/>
        </p:nvSpPr>
        <p:spPr>
          <a:xfrm>
            <a:off x="1262094" y="1056238"/>
            <a:ext cx="6646383" cy="1131913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133350" algn="ctr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sz="20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ИИ-агент для ВНДО </a:t>
            </a:r>
          </a:p>
          <a:p>
            <a:pPr marL="133350" algn="ctr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sz="20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(Внутренние нормативные документы организации) </a:t>
            </a:r>
            <a:endParaRPr lang="ru-RU" b="1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44B3698-3157-4961-A433-6911E4FFCAA3}"/>
              </a:ext>
            </a:extLst>
          </p:cNvPr>
          <p:cNvSpPr/>
          <p:nvPr/>
        </p:nvSpPr>
        <p:spPr>
          <a:xfrm>
            <a:off x="1855516" y="2301599"/>
            <a:ext cx="574336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Слоган: Интеллектуальный поиск релевантной информации ВНДО, как основа оптимизации производственной деятельности. 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194711" y="1172861"/>
            <a:ext cx="8776680" cy="322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23850">
              <a:lnSpc>
                <a:spcPct val="115000"/>
              </a:lnSpc>
              <a:buClr>
                <a:schemeClr val="lt1"/>
              </a:buClr>
              <a:buSzPts val="1500"/>
              <a:buFont typeface="Open Sans"/>
              <a:buChar char="●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Цель проекта – построение ИС ВНД на основе генеративной модели (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LLM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),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источником информации которой является совокупность имеющихся в организации внутренней нормативной документации (ВНД), с целью оптимизации процессов поиска, обобщения, анализа, представления целевой информации.</a:t>
            </a:r>
          </a:p>
          <a:p>
            <a:pPr marL="457200" indent="-323850">
              <a:lnSpc>
                <a:spcPct val="115000"/>
              </a:lnSpc>
              <a:buClr>
                <a:schemeClr val="lt1"/>
              </a:buClr>
              <a:buSzPts val="1500"/>
              <a:buFont typeface="Open Sans"/>
              <a:buChar char="●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Задачи:</a:t>
            </a:r>
          </a:p>
          <a:p>
            <a:pPr marL="4508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1. Анализ целесообразности и экономической эффективности реализации проекта, расчёт объективных и субъективных затрат, возможных рисков.</a:t>
            </a:r>
          </a:p>
          <a:p>
            <a:pPr marL="4508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2. Предобработка имеющихся ВНД (</a:t>
            </a:r>
            <a:r>
              <a:rPr lang="ru-RU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парсинг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сегментация, векторизация нормативной базы). </a:t>
            </a:r>
          </a:p>
          <a:p>
            <a:pPr marL="4508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3. Построение генеративной модели на основе 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RAG 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(построение инфраструктуры для 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on-premise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реализации, векторного хранилища, интеграция с 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LLM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разработка пользовательского интерфейса). </a:t>
            </a:r>
          </a:p>
          <a:p>
            <a:pPr marL="4508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4. Подбор метрик эффективности, на их основе оценка качества и оптимизация модели 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endParaRPr lang="ru-RU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2B8CE6EE-2AC2-4897-B49E-964EEAC1B152}"/>
              </a:ext>
            </a:extLst>
          </p:cNvPr>
          <p:cNvSpPr/>
          <p:nvPr/>
        </p:nvSpPr>
        <p:spPr>
          <a:xfrm>
            <a:off x="1172558" y="327460"/>
            <a:ext cx="7971442" cy="541382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1;p14">
            <a:extLst>
              <a:ext uri="{FF2B5EF4-FFF2-40B4-BE49-F238E27FC236}">
                <a16:creationId xmlns:a16="http://schemas.microsoft.com/office/drawing/2014/main" id="{BF750B9B-739D-4263-8C34-10E8B1FA1F4D}"/>
              </a:ext>
            </a:extLst>
          </p:cNvPr>
          <p:cNvSpPr txBox="1"/>
          <p:nvPr/>
        </p:nvSpPr>
        <p:spPr>
          <a:xfrm>
            <a:off x="1334071" y="413485"/>
            <a:ext cx="72834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Задача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5764B934-B678-455D-B742-EDDF750EA3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1" smtClean="0">
                <a:solidFill>
                  <a:srgbClr val="FF9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fld>
            <a:endParaRPr lang="ru" sz="1200" b="1" dirty="0">
              <a:solidFill>
                <a:srgbClr val="FF9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1F822CF-F1E0-482A-8977-001F05613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57"/>
            <a:ext cx="1132502" cy="113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82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386955" y="1241684"/>
            <a:ext cx="8363252" cy="371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Проект направлен на решение проблемы оперативного поиска, анализа и представления   релевантной информации ВНД, на основании пользовательского запроса, с учётом её исторической актуальности.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Реализация проекта должна минимизировать время ознакомления, адаптации новых сотрудников с правилами, регламентами, инструкциями и нормами поведения внутри компании, упростить их включение в производственные процессы.   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На текущий момент времени, все сотрудники компании, так или иначе используют в своей профессиональной деятельности положения ВНД. Для поиска целевой информации, они должны знать реквизиты документа, место его расположения, обладать соответствующими правами доступа к документу. При этом, информация может содержаться в нескольких источниках, что требует от пользователя знания всей номенклатуры ВНД. Таким образом, отсутствие семантического подбора информации, в значительной степени усложняет процесс поиска, извлечения, анализа информации, может стать причиной всевозможных пользовательских ошибок и, как следствие этого, материального либо репутационного ущерба.</a:t>
            </a:r>
          </a:p>
        </p:txBody>
      </p:sp>
      <p:sp>
        <p:nvSpPr>
          <p:cNvPr id="7" name="Google Shape;60;p14">
            <a:extLst>
              <a:ext uri="{FF2B5EF4-FFF2-40B4-BE49-F238E27FC236}">
                <a16:creationId xmlns:a16="http://schemas.microsoft.com/office/drawing/2014/main" id="{2D664F60-D956-4EDB-A9D2-4679FB92EE9B}"/>
              </a:ext>
            </a:extLst>
          </p:cNvPr>
          <p:cNvSpPr/>
          <p:nvPr/>
        </p:nvSpPr>
        <p:spPr>
          <a:xfrm>
            <a:off x="1129146" y="335512"/>
            <a:ext cx="8014854" cy="541382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1280171" y="421537"/>
            <a:ext cx="75259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100"/>
            </a:pPr>
            <a:r>
              <a:rPr lang="ru-RU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Проблема</a:t>
            </a:r>
            <a:endParaRPr lang="ru-RU" sz="2400" b="1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7DA6A12B-3F9B-458C-B72E-618FB19EA9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1" smtClean="0">
                <a:solidFill>
                  <a:srgbClr val="FF9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fld>
            <a:endParaRPr lang="ru" sz="1200" b="1" dirty="0">
              <a:solidFill>
                <a:srgbClr val="FF9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8453097-73F2-4856-9D85-8811C6410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57"/>
            <a:ext cx="1132502" cy="113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059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426520" y="1289935"/>
            <a:ext cx="7978800" cy="371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23850">
              <a:lnSpc>
                <a:spcPct val="115000"/>
              </a:lnSpc>
              <a:buClr>
                <a:schemeClr val="lt1"/>
              </a:buClr>
              <a:buSzPts val="1500"/>
              <a:buFont typeface="Open Sans"/>
              <a:buChar char="●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Примерно 60% персонала работают с ВНД на постоянной основе, остальные 40% сотрудников взаимодействуют с ВНДО эпизодически (ознакомление с приказами, инструкциями, распоряжениями и т.д.). Как правило, из-за большого объёма нормативной документации, ознакомление с содержанием самих ВНД носит формальный, опосредованный характер. Кроме того, в силу физиологических особенностей человека, держать в памяти все детали огромного разнообразия ВНДО не представляется возможным. </a:t>
            </a:r>
          </a:p>
          <a:p>
            <a:pPr marL="457200" indent="-323850">
              <a:lnSpc>
                <a:spcPct val="115000"/>
              </a:lnSpc>
              <a:buClr>
                <a:schemeClr val="lt1"/>
              </a:buClr>
              <a:buSzPts val="1500"/>
              <a:buFont typeface="Open Sans"/>
              <a:buChar char="●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Следует отметить, что практически все аспекты производственной деятельности, строго регламентированы внутренними нормативными документами, их нарушение (по незнанию, халатности) может привести к административным, дисциплинарным взысканиям, материальному либо репутационному ущербу.</a:t>
            </a:r>
          </a:p>
          <a:p>
            <a:pPr marL="457200" indent="-323850">
              <a:lnSpc>
                <a:spcPct val="115000"/>
              </a:lnSpc>
              <a:buClr>
                <a:schemeClr val="lt1"/>
              </a:buClr>
              <a:buSzPts val="1500"/>
              <a:buFont typeface="Open Sans"/>
              <a:buChar char="●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Ежегодно, около 30% номенклатуры ВНД претерпевают изменения, дополнения, часть из них утрачивают свою юридическую силу. Это требует от сотрудников знания не только самих ВНД, но и осуществление контроля актуальности их редакции в заданный временной период.     </a:t>
            </a:r>
          </a:p>
        </p:txBody>
      </p:sp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887938D9-5596-48E7-80E5-765F2E042679}"/>
              </a:ext>
            </a:extLst>
          </p:cNvPr>
          <p:cNvSpPr/>
          <p:nvPr/>
        </p:nvSpPr>
        <p:spPr>
          <a:xfrm>
            <a:off x="1118060" y="370654"/>
            <a:ext cx="8025939" cy="541382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7;p15">
            <a:extLst>
              <a:ext uri="{FF2B5EF4-FFF2-40B4-BE49-F238E27FC236}">
                <a16:creationId xmlns:a16="http://schemas.microsoft.com/office/drawing/2014/main" id="{6972A362-A36A-40F5-80ED-9D99CDF7B94A}"/>
              </a:ext>
            </a:extLst>
          </p:cNvPr>
          <p:cNvSpPr txBox="1"/>
          <p:nvPr/>
        </p:nvSpPr>
        <p:spPr>
          <a:xfrm>
            <a:off x="1414861" y="465915"/>
            <a:ext cx="73319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100"/>
            </a:pPr>
            <a:r>
              <a:rPr lang="ru-RU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Масштаб проблемы</a:t>
            </a:r>
            <a:endParaRPr lang="ru-RU" sz="2400" b="1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BFF41D62-A837-4D16-A998-003803D113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1" smtClean="0">
                <a:solidFill>
                  <a:srgbClr val="FF9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fld>
            <a:endParaRPr lang="ru" sz="1200" b="1" dirty="0">
              <a:solidFill>
                <a:srgbClr val="FF9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FD3838F-A2C4-45D4-8C97-95193C9AF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57"/>
            <a:ext cx="1132502" cy="113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143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300482" y="1348677"/>
            <a:ext cx="8536498" cy="2229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Реализация проекта предполагает создание корпоративного 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on-premise 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ресурса, на котором пользователь смог бы самостоятельно сформулировав свой запрос к ИИ-агенту, получить достоверную информацию из ВНДО, с указанием ссылок на документы, которые легли в основу представленного ответа, в соответствии с исторической актуальностью нормативной базы.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Проект предусматривает использование о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pen source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 модели LLM, стека технологий RAG, векторных СУБД. В связи с со спецификой проекта, его задач, объективных и субъективных составляющих, использование LLM представляется наиболее оптимальным решением данной задачи. Основная задача LLM – это генерация ответа на пользовательский запрос, построенный исключительно на контексте ВНД.</a:t>
            </a:r>
          </a:p>
        </p:txBody>
      </p:sp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CF316C6F-B8F4-4250-962F-7A790A70D016}"/>
              </a:ext>
            </a:extLst>
          </p:cNvPr>
          <p:cNvSpPr/>
          <p:nvPr/>
        </p:nvSpPr>
        <p:spPr>
          <a:xfrm>
            <a:off x="1101436" y="334386"/>
            <a:ext cx="8042564" cy="541382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7;p15">
            <a:extLst>
              <a:ext uri="{FF2B5EF4-FFF2-40B4-BE49-F238E27FC236}">
                <a16:creationId xmlns:a16="http://schemas.microsoft.com/office/drawing/2014/main" id="{69BA7ACD-AD11-4304-A90C-7115EC8DADF9}"/>
              </a:ext>
            </a:extLst>
          </p:cNvPr>
          <p:cNvSpPr txBox="1"/>
          <p:nvPr/>
        </p:nvSpPr>
        <p:spPr>
          <a:xfrm>
            <a:off x="1220898" y="392711"/>
            <a:ext cx="7525910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Решение: 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5693BF1D-7319-495B-AE44-8D1FE961DB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1" smtClean="0">
                <a:solidFill>
                  <a:srgbClr val="FF9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fld>
            <a:endParaRPr lang="ru" sz="1200" b="1" dirty="0">
              <a:solidFill>
                <a:srgbClr val="FF9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9BCBF82-3FF5-4EE3-9B20-BB70CD640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57"/>
            <a:ext cx="1132502" cy="113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300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353620" y="1335736"/>
            <a:ext cx="8667537" cy="247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При реализации проекта, предполагается использовать модель с открытым исходным кодом Qwen3-30B-A3B-Instruct-2507. Она предлагает оптимальный баланс эффективности и функциональности. Большое контекстное окно делает ее идеальным решением для приложений RAG, когда необходимо обрабатывать огромные коллекции документов, сохраняя при этом экономическую эффективность. 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В качестве пользовательского интерфейса взаимодействия с 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LLM 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целесообразно использовать </a:t>
            </a:r>
            <a:r>
              <a:rPr lang="ru-RU" dirty="0" err="1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Open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ru-RU" dirty="0" err="1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Web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 UI, как </a:t>
            </a:r>
            <a:r>
              <a:rPr lang="ru-RU" dirty="0" err="1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open-source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 решение с возможностью локальной инсталляции.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Реализация </a:t>
            </a:r>
            <a:r>
              <a:rPr lang="ru-RU" dirty="0" err="1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Retrieval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-этапа предусматривает использование легковесных </a:t>
            </a:r>
            <a:r>
              <a:rPr lang="ru-RU" dirty="0" err="1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эмбеддинг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-моделей таких как </a:t>
            </a:r>
            <a:r>
              <a:rPr lang="en-US" dirty="0" err="1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Intfloat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/multilingual‑e5‑base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Для хранения векторных представлений ВНД планируется использовать векторную БД </a:t>
            </a:r>
            <a:r>
              <a:rPr lang="ru-RU" dirty="0" err="1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Qdrant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.</a:t>
            </a:r>
          </a:p>
        </p:txBody>
      </p:sp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AAB465DD-B87C-44F2-929F-38B36328C8E3}"/>
              </a:ext>
            </a:extLst>
          </p:cNvPr>
          <p:cNvSpPr/>
          <p:nvPr/>
        </p:nvSpPr>
        <p:spPr>
          <a:xfrm>
            <a:off x="1073726" y="355168"/>
            <a:ext cx="8070273" cy="541382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7;p15">
            <a:extLst>
              <a:ext uri="{FF2B5EF4-FFF2-40B4-BE49-F238E27FC236}">
                <a16:creationId xmlns:a16="http://schemas.microsoft.com/office/drawing/2014/main" id="{9278CCCD-676A-4A42-9D4B-4A809CE61EBD}"/>
              </a:ext>
            </a:extLst>
          </p:cNvPr>
          <p:cNvSpPr txBox="1"/>
          <p:nvPr/>
        </p:nvSpPr>
        <p:spPr>
          <a:xfrm>
            <a:off x="1314034" y="441193"/>
            <a:ext cx="72827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100"/>
            </a:pPr>
            <a:r>
              <a:rPr lang="ru-RU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Технический подход</a:t>
            </a:r>
            <a:endParaRPr sz="2400" b="1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A7A90218-DE3C-456A-A393-4F80EE3D23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1" smtClean="0">
                <a:solidFill>
                  <a:srgbClr val="FF9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fld>
            <a:endParaRPr lang="ru" sz="1200" b="1" dirty="0">
              <a:solidFill>
                <a:srgbClr val="FF9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0131627-7950-49D9-B8E6-9D61FB003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57"/>
            <a:ext cx="1132502" cy="113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778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60;p14">
            <a:extLst>
              <a:ext uri="{FF2B5EF4-FFF2-40B4-BE49-F238E27FC236}">
                <a16:creationId xmlns:a16="http://schemas.microsoft.com/office/drawing/2014/main" id="{03CC70A5-1CDF-4114-81AB-A9F63A4B7515}"/>
              </a:ext>
            </a:extLst>
          </p:cNvPr>
          <p:cNvSpPr/>
          <p:nvPr/>
        </p:nvSpPr>
        <p:spPr>
          <a:xfrm>
            <a:off x="1152655" y="334387"/>
            <a:ext cx="7978800" cy="541382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67;p15">
            <a:extLst>
              <a:ext uri="{FF2B5EF4-FFF2-40B4-BE49-F238E27FC236}">
                <a16:creationId xmlns:a16="http://schemas.microsoft.com/office/drawing/2014/main" id="{0A973A13-B69E-4F82-AA83-4CEF3E49A7C2}"/>
              </a:ext>
            </a:extLst>
          </p:cNvPr>
          <p:cNvSpPr txBox="1"/>
          <p:nvPr/>
        </p:nvSpPr>
        <p:spPr>
          <a:xfrm>
            <a:off x="1347927" y="420412"/>
            <a:ext cx="75882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100"/>
            </a:pPr>
            <a:r>
              <a:rPr lang="ru-RU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Пользовательский сценарий</a:t>
            </a:r>
            <a:endParaRPr sz="2400" b="1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EBF4AE47-2CAE-4535-B184-A57183CDC3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1" smtClean="0">
                <a:solidFill>
                  <a:srgbClr val="FF9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</a:t>
            </a:fld>
            <a:endParaRPr lang="ru" sz="1200" b="1" dirty="0">
              <a:solidFill>
                <a:srgbClr val="FF9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Google Shape;68;p15">
            <a:extLst>
              <a:ext uri="{FF2B5EF4-FFF2-40B4-BE49-F238E27FC236}">
                <a16:creationId xmlns:a16="http://schemas.microsoft.com/office/drawing/2014/main" id="{73EC3346-9C3D-5926-9D9D-1B3CA7FCFC1C}"/>
              </a:ext>
            </a:extLst>
          </p:cNvPr>
          <p:cNvSpPr txBox="1"/>
          <p:nvPr/>
        </p:nvSpPr>
        <p:spPr>
          <a:xfrm>
            <a:off x="582600" y="1282931"/>
            <a:ext cx="7978800" cy="1734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endParaRPr lang="ru-RU" b="1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  <a:p>
            <a:pPr marL="419100" indent="-285750">
              <a:lnSpc>
                <a:spcPct val="115000"/>
              </a:lnSpc>
              <a:buClr>
                <a:schemeClr val="lt1"/>
              </a:buClr>
              <a:buSzPts val="15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Пользователь, через веб приложение, отправляет запрос: «Кто сейчас утверждает номенклатуру дел в компании?» Ответ ИИ агента: «Номенклатура дел Общества подписывается директором по персоналу, начальником отдела документационного обеспечения, согласовывается с Экспертной комиссией Общества, утверждается приказом Генерального директора.» Приказ № ВД-231 от 01.09.2025 «Об утверждении Методики организации архивного хранения.» п.п.7.2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D6E2F1A-159F-4CA4-B7BD-72C2C8828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57"/>
            <a:ext cx="1132502" cy="113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878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9173E7C-E6DB-4BA1-8DE2-9759B6655014}"/>
              </a:ext>
            </a:extLst>
          </p:cNvPr>
          <p:cNvSpPr txBox="1"/>
          <p:nvPr/>
        </p:nvSpPr>
        <p:spPr>
          <a:xfrm>
            <a:off x="295213" y="1779588"/>
            <a:ext cx="8544148" cy="2802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23850">
              <a:lnSpc>
                <a:spcPct val="115000"/>
              </a:lnSpc>
              <a:buClr>
                <a:schemeClr val="lt1"/>
              </a:buClr>
              <a:buSzPct val="112000"/>
              <a:buFont typeface="Open Sans"/>
              <a:buChar char="●"/>
            </a:pPr>
            <a:r>
              <a:rPr lang="ru-RU" dirty="0">
                <a:solidFill>
                  <a:schemeClr val="bg1"/>
                </a:solidFill>
                <a:latin typeface="Open Sans" panose="020B0606030504020204" pitchFamily="34" charset="0"/>
              </a:rPr>
              <a:t>Решение  предусматривает создание ИИ-агента, на основе LLM-модели с RAG системой в закрытом контуре инфраструктуры компании.</a:t>
            </a:r>
          </a:p>
          <a:p>
            <a:pPr marL="457200" indent="-323850">
              <a:lnSpc>
                <a:spcPct val="115000"/>
              </a:lnSpc>
              <a:buClr>
                <a:schemeClr val="lt1"/>
              </a:buClr>
              <a:buSzPct val="112000"/>
              <a:buFont typeface="Open Sans"/>
              <a:buChar char="●"/>
            </a:pPr>
            <a:r>
              <a:rPr lang="ru-RU" dirty="0">
                <a:solidFill>
                  <a:schemeClr val="bg1"/>
                </a:solidFill>
                <a:latin typeface="Open Sans" panose="020B0606030504020204" pitchFamily="34" charset="0"/>
              </a:rPr>
              <a:t>Текущий статус – идея, проект представлен в виде презентации. Ведётся проработка концепций, подбор технологического стека, изучаются возможные объективные и субъективные риски, стоимость реализации.  </a:t>
            </a:r>
          </a:p>
          <a:p>
            <a:pPr marL="457200" indent="-323850">
              <a:lnSpc>
                <a:spcPct val="115000"/>
              </a:lnSpc>
              <a:buClr>
                <a:schemeClr val="lt1"/>
              </a:buClr>
              <a:buSzPct val="112000"/>
              <a:buFont typeface="Open Sans"/>
              <a:buChar char="●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С учётом специфики проекта, наличия достаточного количества необходимых данных (ВНД), подготовка и проведение пилота на одном тематическом кластере ВНД является приоритетными.</a:t>
            </a:r>
          </a:p>
          <a:p>
            <a:pPr marL="457200" indent="-323850">
              <a:lnSpc>
                <a:spcPct val="115000"/>
              </a:lnSpc>
              <a:buClr>
                <a:schemeClr val="lt1"/>
              </a:buClr>
              <a:buSzPct val="112000"/>
              <a:buFont typeface="Open Sans"/>
              <a:buChar char="●"/>
            </a:pPr>
            <a:endParaRPr lang="ru-RU" dirty="0">
              <a:solidFill>
                <a:schemeClr val="bg1"/>
              </a:solidFill>
              <a:latin typeface="Open Sans" panose="020B0606030504020204" pitchFamily="34" charset="0"/>
            </a:endParaRPr>
          </a:p>
          <a:p>
            <a:pPr marL="457200" indent="-323850">
              <a:lnSpc>
                <a:spcPct val="115000"/>
              </a:lnSpc>
              <a:buClr>
                <a:schemeClr val="lt1"/>
              </a:buClr>
              <a:buSzPct val="112000"/>
              <a:buFont typeface="Open Sans"/>
              <a:buChar char="●"/>
            </a:pPr>
            <a:endParaRPr lang="ru-RU" dirty="0">
              <a:solidFill>
                <a:schemeClr val="bg1"/>
              </a:solidFill>
              <a:latin typeface="Open Sans" panose="020B0606030504020204" pitchFamily="34" charset="0"/>
            </a:endParaRPr>
          </a:p>
          <a:p>
            <a:pPr marL="457200" indent="-323850">
              <a:lnSpc>
                <a:spcPct val="115000"/>
              </a:lnSpc>
              <a:buClr>
                <a:schemeClr val="lt1"/>
              </a:buClr>
              <a:buSzPct val="112000"/>
              <a:buFont typeface="Open Sans"/>
              <a:buChar char="●"/>
            </a:pPr>
            <a:endParaRPr lang="ru-RU" b="0" i="0" u="none" strike="noStrike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5F4B060C-E370-4CBA-B2EE-1F439348177E}"/>
              </a:ext>
            </a:extLst>
          </p:cNvPr>
          <p:cNvSpPr/>
          <p:nvPr/>
        </p:nvSpPr>
        <p:spPr>
          <a:xfrm>
            <a:off x="1156854" y="327460"/>
            <a:ext cx="7987146" cy="541382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67;p15">
            <a:extLst>
              <a:ext uri="{FF2B5EF4-FFF2-40B4-BE49-F238E27FC236}">
                <a16:creationId xmlns:a16="http://schemas.microsoft.com/office/drawing/2014/main" id="{C771D8D9-0C73-42BD-A03B-62C0B0B2E30D}"/>
              </a:ext>
            </a:extLst>
          </p:cNvPr>
          <p:cNvSpPr txBox="1"/>
          <p:nvPr/>
        </p:nvSpPr>
        <p:spPr>
          <a:xfrm>
            <a:off x="1306364" y="413485"/>
            <a:ext cx="75329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100"/>
            </a:pPr>
            <a:r>
              <a:rPr lang="ru-RU" sz="2400" b="1" dirty="0">
                <a:solidFill>
                  <a:schemeClr val="bg1"/>
                </a:solidFill>
                <a:latin typeface="Open Sans" panose="020B0606030504020204" pitchFamily="34" charset="0"/>
              </a:rPr>
              <a:t>Реализация</a:t>
            </a:r>
            <a:endParaRPr lang="ru-RU" sz="2400" b="1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9C8CAE40-2037-43F6-9A88-C2329B98DE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1" smtClean="0">
                <a:solidFill>
                  <a:srgbClr val="FF9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8</a:t>
            </a:fld>
            <a:endParaRPr lang="ru" sz="1200" b="1" dirty="0">
              <a:solidFill>
                <a:srgbClr val="FF9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F61009-E6D3-4B3F-84E0-050C8698F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57"/>
            <a:ext cx="1132502" cy="113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615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892B15CB-24C6-4BE0-B47C-8A20F09B9D88}"/>
              </a:ext>
            </a:extLst>
          </p:cNvPr>
          <p:cNvSpPr/>
          <p:nvPr/>
        </p:nvSpPr>
        <p:spPr>
          <a:xfrm>
            <a:off x="1101436" y="348241"/>
            <a:ext cx="8042564" cy="541382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7;p15">
            <a:extLst>
              <a:ext uri="{FF2B5EF4-FFF2-40B4-BE49-F238E27FC236}">
                <a16:creationId xmlns:a16="http://schemas.microsoft.com/office/drawing/2014/main" id="{162935CE-3BE8-4EE4-9671-9C63C7D8664B}"/>
              </a:ext>
            </a:extLst>
          </p:cNvPr>
          <p:cNvSpPr txBox="1"/>
          <p:nvPr/>
        </p:nvSpPr>
        <p:spPr>
          <a:xfrm>
            <a:off x="1271728" y="434266"/>
            <a:ext cx="78722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Стоимость решения</a:t>
            </a:r>
          </a:p>
        </p:txBody>
      </p:sp>
      <p:sp>
        <p:nvSpPr>
          <p:cNvPr id="8" name="Google Shape;68;p15">
            <a:extLst>
              <a:ext uri="{FF2B5EF4-FFF2-40B4-BE49-F238E27FC236}">
                <a16:creationId xmlns:a16="http://schemas.microsoft.com/office/drawing/2014/main" id="{24F0C79E-1E94-48A1-994C-96695243E958}"/>
              </a:ext>
            </a:extLst>
          </p:cNvPr>
          <p:cNvSpPr txBox="1"/>
          <p:nvPr/>
        </p:nvSpPr>
        <p:spPr>
          <a:xfrm>
            <a:off x="260281" y="1152291"/>
            <a:ext cx="8564042" cy="4211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В связи с отсутствием готового решения на рынке ПО РФ, высокими требованиями ИБ, наличием в контексте ВНД конфиденциальной информации, разработка ИИ-агента собственными силами является приоритетной.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Для этого потребуется создание необходимой инфраструктуры, формирование компетентного комьюнити компании.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В зависимости от масштаба реализации, цена базовых RAG-решений варьируется от 25 до 30 млн. руб.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В стоимость входят: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1. Затраты на  анализ и проектирование: оценка данных, сценариев использования, выбор архитектуры.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2. Разработка ПО: Написание кода для </a:t>
            </a:r>
            <a:r>
              <a:rPr lang="ru-RU" dirty="0" err="1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пайплайнов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 индексации, поиска и генерации, интеграция с существующими ИС компании.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3. Операционные расходы, регулярные затраты на поддержку и использование системы.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4. Стоимость аппаратного обеспечения (GPU-сервера, коммутационное оборудование и т.д.)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endParaRPr lang="ru-RU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endParaRPr lang="ru-RU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endParaRPr lang="ru-RU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3DC7C787-3E01-4E5A-A0C3-1E6060DE1B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1" smtClean="0">
                <a:solidFill>
                  <a:srgbClr val="FF9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9</a:t>
            </a:fld>
            <a:endParaRPr lang="ru" sz="1200" b="1" dirty="0">
              <a:solidFill>
                <a:srgbClr val="FF9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94B00B6-2521-48D1-AA97-60684968D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57"/>
            <a:ext cx="1132502" cy="113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359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892B15CB-24C6-4BE0-B47C-8A20F09B9D88}"/>
              </a:ext>
            </a:extLst>
          </p:cNvPr>
          <p:cNvSpPr/>
          <p:nvPr/>
        </p:nvSpPr>
        <p:spPr>
          <a:xfrm>
            <a:off x="1101436" y="348241"/>
            <a:ext cx="8042564" cy="541382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7;p15">
            <a:extLst>
              <a:ext uri="{FF2B5EF4-FFF2-40B4-BE49-F238E27FC236}">
                <a16:creationId xmlns:a16="http://schemas.microsoft.com/office/drawing/2014/main" id="{162935CE-3BE8-4EE4-9671-9C63C7D8664B}"/>
              </a:ext>
            </a:extLst>
          </p:cNvPr>
          <p:cNvSpPr txBox="1"/>
          <p:nvPr/>
        </p:nvSpPr>
        <p:spPr>
          <a:xfrm>
            <a:off x="1271728" y="434266"/>
            <a:ext cx="78722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100"/>
            </a:pPr>
            <a:r>
              <a:rPr lang="ru-RU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Что будет, если не делать проект? </a:t>
            </a:r>
          </a:p>
        </p:txBody>
      </p:sp>
      <p:sp>
        <p:nvSpPr>
          <p:cNvPr id="8" name="Google Shape;68;p15">
            <a:extLst>
              <a:ext uri="{FF2B5EF4-FFF2-40B4-BE49-F238E27FC236}">
                <a16:creationId xmlns:a16="http://schemas.microsoft.com/office/drawing/2014/main" id="{24F0C79E-1E94-48A1-994C-96695243E958}"/>
              </a:ext>
            </a:extLst>
          </p:cNvPr>
          <p:cNvSpPr txBox="1"/>
          <p:nvPr/>
        </p:nvSpPr>
        <p:spPr>
          <a:xfrm>
            <a:off x="260281" y="1152291"/>
            <a:ext cx="8564042" cy="371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С учётом ежегодного расширения номенклатуры ВНД компании, высокого кадрового оборота, требованиями современного делопроизводства, потребность в ИИ-агентах, обеспечивающих быстрый и качественный, семантический поиск на всём многообразии ВНД, будет только возрастать. </a:t>
            </a:r>
            <a:endParaRPr lang="en-US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Без реализации данного проекта, поиск, анализ, обработка необходимой информации будет по-прежнему отнимать у сотрудников много времени, а следовательно, производительность труда будет оставаться на низком уровне.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Использование ВНД требует от пользователя постоянной актуализации знаний, которая зачастую,  сопряжена с повторным ознакомлением с содержанием одного или нескольких нормативных документов. Тогда как ИИ-агент способен максимально быстро отобрать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релевантные данные и сгенерировать ответ на конкретный пользовательский запрос. 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В силу человеческого фактора, высока вероятность использования не релевантных данных, которые, в свою очередь могут привести к существенным материальным либо репутационным издержкам.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endParaRPr lang="ru-RU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3DC7C787-3E01-4E5A-A0C3-1E6060DE1B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1" smtClean="0">
                <a:solidFill>
                  <a:srgbClr val="FF9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</a:t>
            </a:fld>
            <a:endParaRPr lang="ru" sz="1200" b="1" dirty="0">
              <a:solidFill>
                <a:srgbClr val="FF9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94B00B6-2521-48D1-AA97-60684968D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57"/>
            <a:ext cx="1132502" cy="113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01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8;p15">
            <a:extLst>
              <a:ext uri="{FF2B5EF4-FFF2-40B4-BE49-F238E27FC236}">
                <a16:creationId xmlns:a16="http://schemas.microsoft.com/office/drawing/2014/main" id="{48E29A57-CB91-4342-BD46-F5951AC5CF00}"/>
              </a:ext>
            </a:extLst>
          </p:cNvPr>
          <p:cNvSpPr txBox="1"/>
          <p:nvPr/>
        </p:nvSpPr>
        <p:spPr>
          <a:xfrm>
            <a:off x="490827" y="1755896"/>
            <a:ext cx="7785493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19100" indent="-285750">
              <a:lnSpc>
                <a:spcPct val="115000"/>
              </a:lnSpc>
              <a:buClr>
                <a:schemeClr val="lt1"/>
              </a:buClr>
              <a:buSzPts val="1500"/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  <a:p>
            <a:pPr marL="419100" indent="-285750">
              <a:lnSpc>
                <a:spcPct val="115000"/>
              </a:lnSpc>
              <a:buClr>
                <a:schemeClr val="lt1"/>
              </a:buClr>
              <a:buSzPts val="1500"/>
              <a:buFont typeface="Arial" panose="020B0604020202020204" pitchFamily="34" charset="0"/>
              <a:buChar char="•"/>
            </a:pPr>
            <a:endParaRPr lang="ru-RU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" name="Google Shape;68;p15">
            <a:extLst>
              <a:ext uri="{FF2B5EF4-FFF2-40B4-BE49-F238E27FC236}">
                <a16:creationId xmlns:a16="http://schemas.microsoft.com/office/drawing/2014/main" id="{BB224539-20E2-4F69-8A60-EB8FEE74A0D0}"/>
              </a:ext>
            </a:extLst>
          </p:cNvPr>
          <p:cNvSpPr txBox="1"/>
          <p:nvPr/>
        </p:nvSpPr>
        <p:spPr>
          <a:xfrm>
            <a:off x="490827" y="1440152"/>
            <a:ext cx="7978800" cy="2973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К рискам и ограничениям можно отнести следующие аспекты : 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1. Несоответствие инфраструктуры требованиям проекта, сложности интеграции с имеющимися корпоративными системами. 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u="sng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Решение: 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Перераспределение аппаратных ресурсов инфраструктуры, выбор более легковесных моделей.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2. Запрет на реализацию проекта со стороны ИБ. 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u="sng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Решение: 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дополнительный мониторинг сетевой активности, применение политик безопасности AD/GPO, использование изолированного контура для тестирования модели (песочница), использование контейнеризации.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3. Векторизация большого числа ВНД. 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u="sng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Решение: 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разделение ВНД по тематическим кластерам, поэтапная векторизация.</a:t>
            </a:r>
          </a:p>
          <a:p>
            <a:pPr marL="476250" indent="-342900">
              <a:lnSpc>
                <a:spcPct val="115000"/>
              </a:lnSpc>
              <a:buClr>
                <a:schemeClr val="lt1"/>
              </a:buClr>
              <a:buSzPts val="1500"/>
              <a:buAutoNum type="arabicPeriod"/>
            </a:pPr>
            <a:endParaRPr lang="ru-RU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Google Shape;60;p14">
            <a:extLst>
              <a:ext uri="{FF2B5EF4-FFF2-40B4-BE49-F238E27FC236}">
                <a16:creationId xmlns:a16="http://schemas.microsoft.com/office/drawing/2014/main" id="{AADE735C-B98F-4702-B75A-169F8F4D898A}"/>
              </a:ext>
            </a:extLst>
          </p:cNvPr>
          <p:cNvSpPr/>
          <p:nvPr/>
        </p:nvSpPr>
        <p:spPr>
          <a:xfrm>
            <a:off x="1096358" y="423199"/>
            <a:ext cx="8047642" cy="541382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67;p15">
            <a:extLst>
              <a:ext uri="{FF2B5EF4-FFF2-40B4-BE49-F238E27FC236}">
                <a16:creationId xmlns:a16="http://schemas.microsoft.com/office/drawing/2014/main" id="{6162D704-2401-437B-866C-D0D0E10C1784}"/>
              </a:ext>
            </a:extLst>
          </p:cNvPr>
          <p:cNvSpPr txBox="1"/>
          <p:nvPr/>
        </p:nvSpPr>
        <p:spPr>
          <a:xfrm>
            <a:off x="1340999" y="509224"/>
            <a:ext cx="72280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100"/>
            </a:pPr>
            <a:r>
              <a:rPr lang="ru-RU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Безопасность и ограничения 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BCC7442B-7C5B-47EC-A6DB-9EE493F6E3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1" smtClean="0">
                <a:solidFill>
                  <a:srgbClr val="FF9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11</a:t>
            </a:fld>
            <a:endParaRPr lang="ru" sz="1200" b="1" dirty="0">
              <a:solidFill>
                <a:srgbClr val="FF9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48ECDF0-A690-4D60-ABF8-AE00A40CC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57"/>
            <a:ext cx="1132502" cy="113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152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8;p15">
            <a:extLst>
              <a:ext uri="{FF2B5EF4-FFF2-40B4-BE49-F238E27FC236}">
                <a16:creationId xmlns:a16="http://schemas.microsoft.com/office/drawing/2014/main" id="{48E29A57-CB91-4342-BD46-F5951AC5CF00}"/>
              </a:ext>
            </a:extLst>
          </p:cNvPr>
          <p:cNvSpPr txBox="1"/>
          <p:nvPr/>
        </p:nvSpPr>
        <p:spPr>
          <a:xfrm>
            <a:off x="490827" y="1755896"/>
            <a:ext cx="7785493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19100" indent="-285750">
              <a:lnSpc>
                <a:spcPct val="115000"/>
              </a:lnSpc>
              <a:buClr>
                <a:schemeClr val="lt1"/>
              </a:buClr>
              <a:buSzPts val="1500"/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  <a:p>
            <a:pPr marL="419100" indent="-285750">
              <a:lnSpc>
                <a:spcPct val="115000"/>
              </a:lnSpc>
              <a:buClr>
                <a:schemeClr val="lt1"/>
              </a:buClr>
              <a:buSzPts val="1500"/>
              <a:buFont typeface="Arial" panose="020B0604020202020204" pitchFamily="34" charset="0"/>
              <a:buChar char="•"/>
            </a:pPr>
            <a:endParaRPr lang="ru-RU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Google Shape;60;p14">
            <a:extLst>
              <a:ext uri="{FF2B5EF4-FFF2-40B4-BE49-F238E27FC236}">
                <a16:creationId xmlns:a16="http://schemas.microsoft.com/office/drawing/2014/main" id="{AADE735C-B98F-4702-B75A-169F8F4D898A}"/>
              </a:ext>
            </a:extLst>
          </p:cNvPr>
          <p:cNvSpPr/>
          <p:nvPr/>
        </p:nvSpPr>
        <p:spPr>
          <a:xfrm>
            <a:off x="0" y="2030368"/>
            <a:ext cx="9144000" cy="541382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67;p15">
            <a:extLst>
              <a:ext uri="{FF2B5EF4-FFF2-40B4-BE49-F238E27FC236}">
                <a16:creationId xmlns:a16="http://schemas.microsoft.com/office/drawing/2014/main" id="{6162D704-2401-437B-866C-D0D0E10C1784}"/>
              </a:ext>
            </a:extLst>
          </p:cNvPr>
          <p:cNvSpPr txBox="1"/>
          <p:nvPr/>
        </p:nvSpPr>
        <p:spPr>
          <a:xfrm>
            <a:off x="2858071" y="2116393"/>
            <a:ext cx="85248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Спасибо за внимание!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BCC7442B-7C5B-47EC-A6DB-9EE493F6E3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1" smtClean="0">
                <a:solidFill>
                  <a:srgbClr val="FF9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12</a:t>
            </a:fld>
            <a:endParaRPr lang="ru" sz="1200" b="1" dirty="0">
              <a:solidFill>
                <a:srgbClr val="FF9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36654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4663</TotalTime>
  <Words>1233</Words>
  <Application>Microsoft Office PowerPoint</Application>
  <PresentationFormat>Экран (16:9)</PresentationFormat>
  <Paragraphs>77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Open Sans</vt:lpstr>
      <vt:lpstr>Arial</vt:lpstr>
      <vt:lpstr>Times New Roman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Дмитриевская Наталия Алексеевна</dc:creator>
  <cp:lastModifiedBy>Кантемиров Роман Султанахмедович</cp:lastModifiedBy>
  <cp:revision>161</cp:revision>
  <dcterms:modified xsi:type="dcterms:W3CDTF">2026-03-19T08:50:26Z</dcterms:modified>
</cp:coreProperties>
</file>