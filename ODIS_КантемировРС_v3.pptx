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7" r:id="rId2"/>
    <p:sldId id="263" r:id="rId3"/>
    <p:sldId id="271" r:id="rId4"/>
    <p:sldId id="264" r:id="rId5"/>
    <p:sldId id="261" r:id="rId6"/>
    <p:sldId id="262" r:id="rId7"/>
    <p:sldId id="260" r:id="rId8"/>
    <p:sldId id="265" r:id="rId9"/>
    <p:sldId id="269" r:id="rId10"/>
    <p:sldId id="278" r:id="rId11"/>
    <p:sldId id="275" r:id="rId12"/>
    <p:sldId id="276" r:id="rId13"/>
  </p:sldIdLst>
  <p:sldSz cx="9144000" cy="5143500" type="screen16x9"/>
  <p:notesSz cx="6858000" cy="9144000"/>
  <p:embeddedFontLst>
    <p:embeddedFont>
      <p:font typeface="Open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084" userDrawn="1">
          <p15:clr>
            <a:srgbClr val="A4A3A4"/>
          </p15:clr>
        </p15:guide>
        <p15:guide id="2" pos="363" userDrawn="1">
          <p15:clr>
            <a:srgbClr val="9AA0A6"/>
          </p15:clr>
        </p15:guide>
        <p15:guide id="4" orient="horz" pos="2845" userDrawn="1">
          <p15:clr>
            <a:srgbClr val="9AA0A6"/>
          </p15:clr>
        </p15:guide>
        <p15:guide id="5" orient="horz" pos="1121" userDrawn="1">
          <p15:clr>
            <a:srgbClr val="9AA0A6"/>
          </p15:clr>
        </p15:guide>
        <p15:guide id="6" orient="horz" pos="826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17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380" y="96"/>
      </p:cViewPr>
      <p:guideLst>
        <p:guide pos="3084"/>
        <p:guide pos="363"/>
        <p:guide orient="horz" pos="2845"/>
        <p:guide orient="horz" pos="1121"/>
        <p:guide orient="horz" pos="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80384366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80384366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80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089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966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659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078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794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69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371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752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44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8516cc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8516cc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00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1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408124" y="278386"/>
            <a:ext cx="651098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1100"/>
            </a:pP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 Data Science</a:t>
            </a:r>
          </a:p>
          <a:p>
            <a:pPr algn="ctr">
              <a:buSzPts val="1100"/>
            </a:pPr>
            <a:r>
              <a:rPr lang="ru-RU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Курс «LLM: От понимания к продукту»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B7629E-32CE-4524-9D35-4833A1C2A461}"/>
              </a:ext>
            </a:extLst>
          </p:cNvPr>
          <p:cNvSpPr/>
          <p:nvPr/>
        </p:nvSpPr>
        <p:spPr>
          <a:xfrm>
            <a:off x="1864802" y="3077995"/>
            <a:ext cx="6019130" cy="181107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Команда: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Название команды: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ОЭКИИ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Состав команды: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○ Кантемиров Роман (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Product manage, AI Engineer, </a:t>
            </a:r>
            <a:r>
              <a:rPr lang="en-US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MLOps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) </a:t>
            </a: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○ +79088002878, </a:t>
            </a: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r</a:t>
            </a:r>
            <a:r>
              <a:rPr lang="ru-RU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_</a:t>
            </a: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kantemirov@mail.ru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○</a:t>
            </a: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Ссылка на репозиторий/артефакты проекта: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https://github.com/kantemirovrs/ai-agent-vndo.git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	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1B2B0A-78D0-4956-B5A4-4DD036E3CDF6}"/>
              </a:ext>
            </a:extLst>
          </p:cNvPr>
          <p:cNvSpPr/>
          <p:nvPr/>
        </p:nvSpPr>
        <p:spPr>
          <a:xfrm>
            <a:off x="1262094" y="1056238"/>
            <a:ext cx="6646383" cy="113191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33350" algn="ctr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ИИ-агент для ВНДО </a:t>
            </a:r>
          </a:p>
          <a:p>
            <a:pPr marL="133350" algn="ctr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(Внутренние нормативные документы организации) </a:t>
            </a: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4B3698-3157-4961-A433-6911E4FFCAA3}"/>
              </a:ext>
            </a:extLst>
          </p:cNvPr>
          <p:cNvSpPr/>
          <p:nvPr/>
        </p:nvSpPr>
        <p:spPr>
          <a:xfrm>
            <a:off x="1855516" y="2301599"/>
            <a:ext cx="57433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Слоган: Интеллектуальный поиск релевантной информации ВНД, как основа оптимизации производственной деятельности.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94711" y="1172861"/>
            <a:ext cx="8776680" cy="32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Цель проекта – построение ИС ВНД на основе генеративной модели (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LLM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),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источником информации которой является совокупность имеющихся в организации внутренней нормативной документации (ВНД), с целью оптимизации процессов поиска, обобщения, анализа, представления целевой информации.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Задачи проекта: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1. Анализ целесообразности и экономической эффективности реализации проекта, расчёт объективных и субъективных затрат, возможных рисков.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2. Предобработка имеющихся ВНД (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парсинг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сегментация, векторизация нормативной базы). 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3. Построение генеративной модели на основе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RAG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(построение инфраструктуры для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on-premise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реализации, векторного хранилища, интеграция с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разработка пользовательского интерфейса). </a:t>
            </a:r>
          </a:p>
          <a:p>
            <a:pPr marL="4508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4. Подбор метрик эффективности, на их основе оценка качества и оптимизация модели 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2B8CE6EE-2AC2-4897-B49E-964EEAC1B152}"/>
              </a:ext>
            </a:extLst>
          </p:cNvPr>
          <p:cNvSpPr/>
          <p:nvPr/>
        </p:nvSpPr>
        <p:spPr>
          <a:xfrm>
            <a:off x="1172558" y="327460"/>
            <a:ext cx="7971442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BF750B9B-739D-4263-8C34-10E8B1FA1F4D}"/>
              </a:ext>
            </a:extLst>
          </p:cNvPr>
          <p:cNvSpPr txBox="1"/>
          <p:nvPr/>
        </p:nvSpPr>
        <p:spPr>
          <a:xfrm>
            <a:off x="1334071" y="413485"/>
            <a:ext cx="7283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Цели и задачи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764B934-B678-455D-B742-EDDF750EA3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F822CF-F1E0-482A-8977-001F0561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8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86955" y="1241684"/>
            <a:ext cx="8363252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Проект направлен на решение проблемы оперативного поиска, анализа и представления   релевантной информации ВНД, на основании пользовательского запроса, с учётом её исторической актуальности.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проекта должна минимизировать время ознакомления, адаптации новых сотрудников с правилами, регламентами, инструкциями и нормами поведения внутри компании, упростить их включение в производственные и бизнес процессы.  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На текущий момент времени, все сотрудники компании, так или иначе используют в своей профессиональной деятельности положения ВНД. Для поиска целевой информации, они должны знать метаданные каждого документа, место его расположения, обладать соответствующими правами доступа. При этом, информация может содержаться в нескольких источниках, что требует от пользователя знания всей номенклатуры ВНД. Таким образом, отсутствие семантического подбора информации, в значительной степени усложняет процесс поиска, извлечения, анализа данных, может стать причиной всевозможных пользовательских ошибок и, как следствие этого, материального либо репутационного ущерба.</a:t>
            </a: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2D664F60-D956-4EDB-A9D2-4679FB92EE9B}"/>
              </a:ext>
            </a:extLst>
          </p:cNvPr>
          <p:cNvSpPr/>
          <p:nvPr/>
        </p:nvSpPr>
        <p:spPr>
          <a:xfrm>
            <a:off x="1129146" y="335512"/>
            <a:ext cx="801485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280171" y="421537"/>
            <a:ext cx="7525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Проблема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DA6A12B-3F9B-458C-B72E-618FB19EA9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453097-73F2-4856-9D85-8811C641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5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426520" y="1189135"/>
            <a:ext cx="7978800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Примерно 60% персонала работают с ВНД на постоянной основе, остальные 40% сотрудников взаимодействуют с ВНДО эпизодически (ознакомление с приказами, инструкциями, распоряжениями и т.д.). Как правило, из-за большого объёма нормативной документации, ознакомление с содержанием самих ВНД носит формальный, опосредованный характер. Кроме того, в силу физиологических особенностей человека, держать в памяти все детали огромного разнообразия нормативной документации не представляется возможным. 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Следует отметить, что практически все аспекты производственной деятельности, строго регламентированы внутренними нормативными документами, их нарушение (по незнанию, халатности) может привести к административным, дисциплинарным взысканиям, материальному либо репутационному ущербу.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ts val="15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Ежегодно, около 30% номенклатуры ВНД претерпевают изменения, дополнения, часть из них утрачивают свою юридическую силу. Это требует от сотрудников знания не только содержания самих ВНД, но и контроля актуальности их редакции в заданный временной период.     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87938D9-5596-48E7-80E5-765F2E042679}"/>
              </a:ext>
            </a:extLst>
          </p:cNvPr>
          <p:cNvSpPr/>
          <p:nvPr/>
        </p:nvSpPr>
        <p:spPr>
          <a:xfrm>
            <a:off x="1118060" y="370654"/>
            <a:ext cx="8025939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972A362-A36A-40F5-80ED-9D99CDF7B94A}"/>
              </a:ext>
            </a:extLst>
          </p:cNvPr>
          <p:cNvSpPr txBox="1"/>
          <p:nvPr/>
        </p:nvSpPr>
        <p:spPr>
          <a:xfrm>
            <a:off x="1414861" y="465915"/>
            <a:ext cx="7331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Масштаб проблемы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BFF41D62-A837-4D16-A998-003803D11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D3838F-A2C4-45D4-8C97-95193C9AF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4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00482" y="1348677"/>
            <a:ext cx="8536498" cy="222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проекта предполагает создание корпоративного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on-premise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ресурса, на котором пользователь смог бы самостоятельно, сформулировав свой запрос к ИИ-агенту, получить релевантную информацию из ВНДО, с указанием ссылок на документы, которые легли в основу представленного ответа, в соответствии с исторической актуальностью нормативной базы.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Проект предусматривает использование о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pen source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модели LLM, стека технологий RAG и векторных СУБД. В связи с со спецификой проекта, его задач, объективных и субъективных составляющих, использование LLM представляется наиболее оптимальным решением данной задачи. Где задача LLM – это генерация ответа на пользовательский запрос, построенный исключительно на контексте ВНД.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CF316C6F-B8F4-4250-962F-7A790A70D016}"/>
              </a:ext>
            </a:extLst>
          </p:cNvPr>
          <p:cNvSpPr/>
          <p:nvPr/>
        </p:nvSpPr>
        <p:spPr>
          <a:xfrm>
            <a:off x="1101436" y="334386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9BA7ACD-AD11-4304-A90C-7115EC8DADF9}"/>
              </a:ext>
            </a:extLst>
          </p:cNvPr>
          <p:cNvSpPr txBox="1"/>
          <p:nvPr/>
        </p:nvSpPr>
        <p:spPr>
          <a:xfrm>
            <a:off x="1220898" y="392711"/>
            <a:ext cx="752591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693BF1D-7319-495B-AE44-8D1FE961DB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BCBF82-3FF5-4EE3-9B20-BB70CD640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0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53620" y="1335736"/>
            <a:ext cx="8667537" cy="272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При реализации проекта, предполагается использование модели с открытым исходным кодом из семейства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Qwen3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(Qwen3-30B-A3B-Instruct-2507). Она предлагает оптимальный баланс эффективности и функциональности. Большое контекстное окно делает ее идеальным решением для приложений RAG, когда необходимо обрабатывать огромные коллекции документов, сохраняя при этом экономическую эффективность.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качестве пользовательского интерфейса для взаимодействия с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LLM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целесообразно использовать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оpen-source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решение с возможностью локальной инсталляции -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Open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Web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UI.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Реализация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Retrieval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-этапа предусматривает использование легковесных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эмбеддинг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-моделей таких как </a:t>
            </a:r>
            <a:r>
              <a:rPr lang="en-US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Intfloat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/multilingual‑e5‑base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Для хранения векторных представлений нормативной документации планируется задействовать векторную БД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Qdrant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AAB465DD-B87C-44F2-929F-38B36328C8E3}"/>
              </a:ext>
            </a:extLst>
          </p:cNvPr>
          <p:cNvSpPr/>
          <p:nvPr/>
        </p:nvSpPr>
        <p:spPr>
          <a:xfrm>
            <a:off x="1073726" y="355168"/>
            <a:ext cx="8070273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9278CCCD-676A-4A42-9D4B-4A809CE61EBD}"/>
              </a:ext>
            </a:extLst>
          </p:cNvPr>
          <p:cNvSpPr txBox="1"/>
          <p:nvPr/>
        </p:nvSpPr>
        <p:spPr>
          <a:xfrm>
            <a:off x="1314034" y="441193"/>
            <a:ext cx="7282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Технический аспект</a:t>
            </a:r>
            <a:endParaRPr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A7A90218-DE3C-456A-A393-4F80EE3D23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131627-7950-49D9-B8E6-9D61FB00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60;p14">
            <a:extLst>
              <a:ext uri="{FF2B5EF4-FFF2-40B4-BE49-F238E27FC236}">
                <a16:creationId xmlns:a16="http://schemas.microsoft.com/office/drawing/2014/main" id="{03CC70A5-1CDF-4114-81AB-A9F63A4B7515}"/>
              </a:ext>
            </a:extLst>
          </p:cNvPr>
          <p:cNvSpPr/>
          <p:nvPr/>
        </p:nvSpPr>
        <p:spPr>
          <a:xfrm>
            <a:off x="1152655" y="334387"/>
            <a:ext cx="7978800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;p15">
            <a:extLst>
              <a:ext uri="{FF2B5EF4-FFF2-40B4-BE49-F238E27FC236}">
                <a16:creationId xmlns:a16="http://schemas.microsoft.com/office/drawing/2014/main" id="{0A973A13-B69E-4F82-AA83-4CEF3E49A7C2}"/>
              </a:ext>
            </a:extLst>
          </p:cNvPr>
          <p:cNvSpPr txBox="1"/>
          <p:nvPr/>
        </p:nvSpPr>
        <p:spPr>
          <a:xfrm>
            <a:off x="1347927" y="420412"/>
            <a:ext cx="75882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Пользовательский сценарий</a:t>
            </a:r>
            <a:endParaRPr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EBF4AE47-2CAE-4535-B184-A57183CDC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Google Shape;68;p15">
            <a:extLst>
              <a:ext uri="{FF2B5EF4-FFF2-40B4-BE49-F238E27FC236}">
                <a16:creationId xmlns:a16="http://schemas.microsoft.com/office/drawing/2014/main" id="{73EC3346-9C3D-5926-9D9D-1B3CA7FCFC1C}"/>
              </a:ext>
            </a:extLst>
          </p:cNvPr>
          <p:cNvSpPr txBox="1"/>
          <p:nvPr/>
        </p:nvSpPr>
        <p:spPr>
          <a:xfrm>
            <a:off x="582600" y="951731"/>
            <a:ext cx="7978800" cy="421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1. Пользователь, через веб приложение инициирует запрос ИИ-Агенту.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2. ИИ-агент преобразует запрос в векторное представление и выполняет поиск релевантных фрагментов информации в векторной БД.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3. Найденные фрагменты, вместе с исходным запросом объединяются в единый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промпт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генеративной модели.   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4. 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LLM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формирует ответ, ссылаясь на предоставленные фрагменты и источники, визуализирует его в пользовательском окне.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5. Пользователь может задать утоняющий вопрос, перейти к первоисточникам, запросить дополнительную информацию, оценить работу ИИ-агента.  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Пример: </a:t>
            </a: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Сотрудник, через веб приложение, отправляет запрос: «Кто сейчас утверждает номенклатуру дел в компании?» </a:t>
            </a: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Ответ ИИ агента: «Номенклатура дел Общества подписывается директором по персоналу, начальником отдела документационного обеспечения, согласовывается с Экспертной комиссией Общества, утверждается приказом Генерального директора.»</a:t>
            </a: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Источник: Приказ № ВД-231 от 01.09.2025 «Об утверждении Методики организации архивного хранения.» п.п.7.2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6E2F1A-159F-4CA4-B7BD-72C2C8828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7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9173E7C-E6DB-4BA1-8DE2-9759B6655014}"/>
              </a:ext>
            </a:extLst>
          </p:cNvPr>
          <p:cNvSpPr txBox="1"/>
          <p:nvPr/>
        </p:nvSpPr>
        <p:spPr>
          <a:xfrm>
            <a:off x="295213" y="1779588"/>
            <a:ext cx="8544148" cy="280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</a:rPr>
              <a:t>Решение  предусматривает создание ИИ-агента, на основе LLM-модели с RAG системой в закрытом контуре инфраструктуры компании.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</a:rPr>
              <a:t>Текущий статус – идея, проект представлен в виде презентации. Ведётся проработка концепций, подбор технологического стека, изучаются возможные объективные и субъективные риски, стоимость реализации.  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 учётом специфики проекта, наличия достаточного количества необходимых данных (ВНД), подготовка и проведение пилота на одном тематическом кластере ВНД является приоритетными.</a:t>
            </a: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marL="457200" indent="-323850">
              <a:lnSpc>
                <a:spcPct val="115000"/>
              </a:lnSpc>
              <a:buClr>
                <a:schemeClr val="lt1"/>
              </a:buClr>
              <a:buSzPct val="112000"/>
              <a:buFont typeface="Open Sans"/>
              <a:buChar char="●"/>
            </a:pPr>
            <a:endParaRPr lang="ru-RU" b="0" i="0" u="none" strike="noStrike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F4B060C-E370-4CBA-B2EE-1F439348177E}"/>
              </a:ext>
            </a:extLst>
          </p:cNvPr>
          <p:cNvSpPr/>
          <p:nvPr/>
        </p:nvSpPr>
        <p:spPr>
          <a:xfrm>
            <a:off x="1156854" y="327460"/>
            <a:ext cx="7987146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7;p15">
            <a:extLst>
              <a:ext uri="{FF2B5EF4-FFF2-40B4-BE49-F238E27FC236}">
                <a16:creationId xmlns:a16="http://schemas.microsoft.com/office/drawing/2014/main" id="{C771D8D9-0C73-42BD-A03B-62C0B0B2E30D}"/>
              </a:ext>
            </a:extLst>
          </p:cNvPr>
          <p:cNvSpPr txBox="1"/>
          <p:nvPr/>
        </p:nvSpPr>
        <p:spPr>
          <a:xfrm>
            <a:off x="1306364" y="413485"/>
            <a:ext cx="75329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bg1"/>
                </a:solidFill>
                <a:latin typeface="Open Sans" panose="020B0606030504020204" pitchFamily="34" charset="0"/>
              </a:rPr>
              <a:t>Реализация</a:t>
            </a:r>
            <a:endParaRPr lang="ru-RU"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9C8CAE40-2037-43F6-9A88-C2329B98D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F61009-E6D3-4B3F-84E0-050C8698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1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92B15CB-24C6-4BE0-B47C-8A20F09B9D88}"/>
              </a:ext>
            </a:extLst>
          </p:cNvPr>
          <p:cNvSpPr/>
          <p:nvPr/>
        </p:nvSpPr>
        <p:spPr>
          <a:xfrm>
            <a:off x="1101436" y="348241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162935CE-3BE8-4EE4-9671-9C63C7D8664B}"/>
              </a:ext>
            </a:extLst>
          </p:cNvPr>
          <p:cNvSpPr txBox="1"/>
          <p:nvPr/>
        </p:nvSpPr>
        <p:spPr>
          <a:xfrm>
            <a:off x="1271728" y="434266"/>
            <a:ext cx="7872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Стоимость решения</a:t>
            </a:r>
          </a:p>
        </p:txBody>
      </p:sp>
      <p:sp>
        <p:nvSpPr>
          <p:cNvPr id="8" name="Google Shape;68;p15">
            <a:extLst>
              <a:ext uri="{FF2B5EF4-FFF2-40B4-BE49-F238E27FC236}">
                <a16:creationId xmlns:a16="http://schemas.microsoft.com/office/drawing/2014/main" id="{24F0C79E-1E94-48A1-994C-96695243E958}"/>
              </a:ext>
            </a:extLst>
          </p:cNvPr>
          <p:cNvSpPr txBox="1"/>
          <p:nvPr/>
        </p:nvSpPr>
        <p:spPr>
          <a:xfrm>
            <a:off x="260281" y="1152291"/>
            <a:ext cx="8564042" cy="421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связи с отсутствием готового решения на рынке ПО РФ, высокими требованиями ИБ, наличием в контексте ВНД конфиденциальной информации, самостоятельная разработка ИИ-агента является приоритетной.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Для этого потребуется создание необходимой инфраструктуры, формирование компетентного комьюнити компании.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зависимости от масштаба реализации, цена базовых RAG-решений варьируется от 25 до 30 млн. руб.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стоимость входят: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1. Затраты на  анализ и проектирование: оценка данных, сценариев использования, выбор архитектуры.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2. Разработка ПО: Написание кода </a:t>
            </a:r>
            <a:r>
              <a:rPr lang="ru-RU" dirty="0" err="1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пайплайнов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индексации, поиска и генерации, интеграции с существующими ИС компании.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3. Операционные расходы, регулярные затраты на поддержку и использование системы.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4. Стоимость аппаратного обеспечения (GPU-сервера, коммутационное оборудование и т.д.)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3DC7C787-3E01-4E5A-A0C3-1E6060DE1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4B00B6-2521-48D1-AA97-60684968D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5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92B15CB-24C6-4BE0-B47C-8A20F09B9D88}"/>
              </a:ext>
            </a:extLst>
          </p:cNvPr>
          <p:cNvSpPr/>
          <p:nvPr/>
        </p:nvSpPr>
        <p:spPr>
          <a:xfrm>
            <a:off x="1101436" y="348241"/>
            <a:ext cx="8042564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162935CE-3BE8-4EE4-9671-9C63C7D8664B}"/>
              </a:ext>
            </a:extLst>
          </p:cNvPr>
          <p:cNvSpPr txBox="1"/>
          <p:nvPr/>
        </p:nvSpPr>
        <p:spPr>
          <a:xfrm>
            <a:off x="1271728" y="434266"/>
            <a:ext cx="7872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Что будет, если не делать проект? </a:t>
            </a:r>
          </a:p>
        </p:txBody>
      </p:sp>
      <p:sp>
        <p:nvSpPr>
          <p:cNvPr id="8" name="Google Shape;68;p15">
            <a:extLst>
              <a:ext uri="{FF2B5EF4-FFF2-40B4-BE49-F238E27FC236}">
                <a16:creationId xmlns:a16="http://schemas.microsoft.com/office/drawing/2014/main" id="{24F0C79E-1E94-48A1-994C-96695243E958}"/>
              </a:ext>
            </a:extLst>
          </p:cNvPr>
          <p:cNvSpPr txBox="1"/>
          <p:nvPr/>
        </p:nvSpPr>
        <p:spPr>
          <a:xfrm>
            <a:off x="260281" y="1152291"/>
            <a:ext cx="8564042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С учётом ежегодного расширения номенклатуры ВНД компании, высокого кадрового оборота, требованиями современного делопроизводства, потребность в ИИ-агентах, обеспечивающих быстрый и качественный, семантический поиск на всём многообразии ВНД, будет только возрастать. </a:t>
            </a:r>
            <a:endParaRPr lang="en-US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Без реализации данного проекта, поиск, анализ, обработка необходимой информации будет по-прежнему отнимать у сотрудников много времени, а следовательно, производительность труда в этом аспекте будет оставаться на низком уровне.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Использование ВНД требует от пользователя постоянной актуализации знаний, которая зачастую,  сопряжена с повторным ознакомлением с содержанием одного или нескольких нормативных документов. Тогда как ИИ-агент способен максимально быстро отобрать</a:t>
            </a: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релевантные данные и сгенерировать ответ на конкретный пользовательский запрос.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В силу человеческого фактора, высока вероятность использования не релевантных данных, которые, в свою очередь могут привести к существенным материальным либо репутационным издержкам.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ct val="112000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3DC7C787-3E01-4E5A-A0C3-1E6060DE1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4B00B6-2521-48D1-AA97-60684968D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48E29A57-CB91-4342-BD46-F5951AC5CF00}"/>
              </a:ext>
            </a:extLst>
          </p:cNvPr>
          <p:cNvSpPr txBox="1"/>
          <p:nvPr/>
        </p:nvSpPr>
        <p:spPr>
          <a:xfrm>
            <a:off x="490827" y="1755896"/>
            <a:ext cx="77854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Google Shape;68;p15">
            <a:extLst>
              <a:ext uri="{FF2B5EF4-FFF2-40B4-BE49-F238E27FC236}">
                <a16:creationId xmlns:a16="http://schemas.microsoft.com/office/drawing/2014/main" id="{BB224539-20E2-4F69-8A60-EB8FEE74A0D0}"/>
              </a:ext>
            </a:extLst>
          </p:cNvPr>
          <p:cNvSpPr txBox="1"/>
          <p:nvPr/>
        </p:nvSpPr>
        <p:spPr>
          <a:xfrm>
            <a:off x="490827" y="1440152"/>
            <a:ext cx="7978800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К рискам и ограничениям можно отнести следующие аспекты :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1. Несоответствие инфраструктуры требованиям проекта, сложности интеграции с имеющимися корпоративными системами.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Перераспределение аппаратных ресурсов инфраструктуры, выбор более легковесных моделей.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2. Запрет на реализацию проекта со стороны ИБ.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дополнительный мониторинг сетевой активности, применение политик безопасности AD/GPO, использование изолированного контура для тестирования модели, использование контейнеризации.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3. Векторизация большого числа ВНД. </a:t>
            </a:r>
          </a:p>
          <a:p>
            <a:pPr marL="133350">
              <a:lnSpc>
                <a:spcPct val="115000"/>
              </a:lnSpc>
              <a:buClr>
                <a:schemeClr val="lt1"/>
              </a:buClr>
              <a:buSzPts val="1500"/>
            </a:pPr>
            <a:r>
              <a:rPr lang="ru-RU" u="sng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Решение: </a:t>
            </a:r>
            <a:r>
              <a:rPr lang="ru-RU" dirty="0">
                <a:solidFill>
                  <a:schemeClr val="lt1"/>
                </a:solidFill>
                <a:latin typeface="Open Sans"/>
                <a:ea typeface="Open Sans"/>
                <a:cs typeface="Open Sans"/>
              </a:rPr>
              <a:t>разделение ВНД по тематическим кластерам, поэтапная векторизация.</a:t>
            </a:r>
          </a:p>
          <a:p>
            <a:pPr marL="476250" indent="-342900">
              <a:lnSpc>
                <a:spcPct val="115000"/>
              </a:lnSpc>
              <a:buClr>
                <a:schemeClr val="lt1"/>
              </a:buClr>
              <a:buSzPts val="1500"/>
              <a:buAutoNum type="arabicPeriod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AADE735C-B98F-4702-B75A-169F8F4D898A}"/>
              </a:ext>
            </a:extLst>
          </p:cNvPr>
          <p:cNvSpPr/>
          <p:nvPr/>
        </p:nvSpPr>
        <p:spPr>
          <a:xfrm>
            <a:off x="1096358" y="423199"/>
            <a:ext cx="8047642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6162D704-2401-437B-866C-D0D0E10C1784}"/>
              </a:ext>
            </a:extLst>
          </p:cNvPr>
          <p:cNvSpPr txBox="1"/>
          <p:nvPr/>
        </p:nvSpPr>
        <p:spPr>
          <a:xfrm>
            <a:off x="1340999" y="509224"/>
            <a:ext cx="72280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Безопасность и ограничения 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BCC7442B-7C5B-47EC-A6DB-9EE493F6E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8ECDF0-A690-4D60-ABF8-AE00A40C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57"/>
            <a:ext cx="1132502" cy="1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5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48E29A57-CB91-4342-BD46-F5951AC5CF00}"/>
              </a:ext>
            </a:extLst>
          </p:cNvPr>
          <p:cNvSpPr txBox="1"/>
          <p:nvPr/>
        </p:nvSpPr>
        <p:spPr>
          <a:xfrm>
            <a:off x="490827" y="1755896"/>
            <a:ext cx="77854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419100" indent="-285750">
              <a:lnSpc>
                <a:spcPct val="115000"/>
              </a:lnSpc>
              <a:buClr>
                <a:schemeClr val="lt1"/>
              </a:buClr>
              <a:buSzPts val="1500"/>
              <a:buFont typeface="Arial" panose="020B0604020202020204" pitchFamily="34" charset="0"/>
              <a:buChar char="•"/>
            </a:pPr>
            <a:endParaRPr lang="ru-RU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AADE735C-B98F-4702-B75A-169F8F4D898A}"/>
              </a:ext>
            </a:extLst>
          </p:cNvPr>
          <p:cNvSpPr/>
          <p:nvPr/>
        </p:nvSpPr>
        <p:spPr>
          <a:xfrm>
            <a:off x="0" y="2030368"/>
            <a:ext cx="9144000" cy="541382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6162D704-2401-437B-866C-D0D0E10C1784}"/>
              </a:ext>
            </a:extLst>
          </p:cNvPr>
          <p:cNvSpPr txBox="1"/>
          <p:nvPr/>
        </p:nvSpPr>
        <p:spPr>
          <a:xfrm>
            <a:off x="2858071" y="2116393"/>
            <a:ext cx="8524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Спасибо за внимание!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BCC7442B-7C5B-47EC-A6DB-9EE493F6E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1" smtClean="0">
                <a:solidFill>
                  <a:srgbClr val="FF9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</a:t>
            </a:fld>
            <a:endParaRPr lang="ru" sz="1200" b="1" dirty="0">
              <a:solidFill>
                <a:srgbClr val="FF9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665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4860</TotalTime>
  <Words>1330</Words>
  <Application>Microsoft Office PowerPoint</Application>
  <PresentationFormat>Экран (16:9)</PresentationFormat>
  <Paragraphs>84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Open Sans</vt:lpstr>
      <vt:lpstr>Arial</vt:lpstr>
      <vt:lpstr>Times New Roman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Дмитриевская Наталия Алексеевна</dc:creator>
  <cp:lastModifiedBy>Кантемиров Роман Султанахмедович</cp:lastModifiedBy>
  <cp:revision>177</cp:revision>
  <dcterms:modified xsi:type="dcterms:W3CDTF">2026-03-27T08:16:59Z</dcterms:modified>
</cp:coreProperties>
</file>